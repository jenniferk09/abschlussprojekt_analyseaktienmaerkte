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4A1F2-36E5-E5DE-A125-7072DA51C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1E93E3-B2DD-1C6D-BC88-D5696A8D3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9BEC1B-A314-9C5B-0B82-335E148B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30854-FE28-E32B-678C-E43979FF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3A667E-7303-3C79-8B83-1FCDEE97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93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2C2E1-DA44-EE0B-E987-EC835D87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1579E-637E-1F76-C8E2-8688B88C9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8AF2BE-7EB4-EDD7-4330-62C9E538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EAE1E0-1610-FD02-66AA-C115B6EE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2DE530-0A2C-CFF0-9096-D07BE978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42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C97E4-7467-3132-6CC7-9E2D5830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43AB7E-3EFB-B284-E306-8912D1935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6DA71A-A852-00E7-90C4-744E1B4A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DC4F48-A8EA-8127-436A-9E1452AC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0DE734-F99F-DA05-4D7B-C2407247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26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0623E-4264-549D-CA9D-AE5E4B1C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EE43A3-C970-383F-B6AA-265A0535C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1EDE35-41AC-B766-E487-2C053DEF8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A9CB37-16B2-6522-F190-16D87EA1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7FF60A-051E-B198-B049-8F2D2FEB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80047C-09EF-3E24-8037-37209BCC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86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33035-EA7B-449C-70D5-E574509D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30013B-03C0-0D64-1FDD-D72003018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9ED45B-8D09-F245-8C84-14A9DFC7A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B345B0-619C-756E-0C81-EC25F99E4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9C060FA-BD5F-720A-B465-11DB3AD6C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156974-66C6-F770-5A1B-89A5800F5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B55292-062D-FDB6-48E7-962B1FEAD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95D95EE-F06E-29A2-B5A7-63A5E0BD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87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CF158-BD49-9973-50DB-7B051667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53089C-E2EF-3663-60CC-756D6A34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86632E-03A0-80AA-C246-223AD917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CF5F57-67E7-37AE-A210-F91CF167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99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9051A2-EABE-5928-EEE3-B1D47CDA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8A5CF7-114B-C270-BC12-CACFFC47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C7D6B2-E1AD-7A38-CDD6-551B1D43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17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E75083-B348-CAD2-7A5F-4891483E9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22DDD0-6E5F-A45E-CC1D-A0F9D3B82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97ECE0-53BE-F23B-47AD-4DF6B2B3C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7F3E17-2745-FCB7-CBD3-1C7E49EA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62719D0-1CF3-F571-B15A-2A66D8E0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AB8137-D393-5A34-8E4B-B8F200C7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581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FA6B2-E4F4-2B83-75F1-623CBDC6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3927E60-D99F-761D-46A7-60D4F7504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91D56E-B17B-868E-3103-CA1A679AA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6224E0-3BA4-019A-B416-623F0052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237F9B-1AAE-CB9B-BEB8-0FB61BF3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EFE108-FBA3-12C7-8A6D-ED73F5A0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66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C00C7-F496-7D48-8532-418C6ED9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4E26A5-83A7-9676-4EDE-CDBEBD6FF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EB8118-3619-AE44-28DE-E075BE75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CEC8F0-3A1C-B98D-5EAA-E3E1C02C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173F40-3AA1-052C-34E2-A44C33DE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17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3BE3DB-93FC-78B4-FE58-991888FCF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6A60F2D-E9AA-86D4-9B44-0FB92ED1C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BA893C-3940-8A4C-95E2-730ECA834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B20747-E3D4-C88A-624C-2999EABC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D7A941-972B-B8C5-4838-777363C6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61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BC03E2-053A-BFD2-7D20-B89C1E59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24C873-806D-D573-24E5-C20394019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5B4864-D474-C881-41D1-E8C3CAE62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00094-3FF1-4C78-9BA2-9DB688765249}" type="datetimeFigureOut">
              <a:rPr lang="de-DE" smtClean="0"/>
              <a:t>13.08.2026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5C0181-E5CC-7DD1-FD47-CA4D4DE64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7D441F-DBCB-35AD-FF06-52EFA3524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B524B-4985-410D-81F2-E41F9C215C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12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4D8C5D-241C-98DB-3E98-75A2B273A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2957"/>
            <a:ext cx="9144000" cy="3232086"/>
          </a:xfrm>
        </p:spPr>
        <p:txBody>
          <a:bodyPr>
            <a:normAutofit/>
          </a:bodyPr>
          <a:lstStyle/>
          <a:p>
            <a:r>
              <a:rPr lang="de-DE" sz="3600" dirty="0"/>
              <a:t>Warren Buffetts berühmte Regel Nummer 1 lautet: </a:t>
            </a:r>
            <a:br>
              <a:rPr lang="de-DE" sz="3600" dirty="0"/>
            </a:br>
            <a:r>
              <a:rPr lang="de-DE" sz="3600" b="1" dirty="0">
                <a:effectLst/>
              </a:rPr>
              <a:t>„Verliere niemals Geld.“</a:t>
            </a:r>
            <a:r>
              <a:rPr lang="de-DE" sz="3600" dirty="0"/>
              <a:t> </a:t>
            </a:r>
            <a:br>
              <a:rPr lang="de-DE" sz="3600" dirty="0"/>
            </a:br>
            <a:r>
              <a:rPr lang="de-DE" sz="3600" dirty="0"/>
              <a:t>Regel Nummer 2 lautet: </a:t>
            </a:r>
            <a:br>
              <a:rPr lang="de-DE" sz="3600" dirty="0"/>
            </a:br>
            <a:r>
              <a:rPr lang="de-DE" sz="3600" b="1" dirty="0">
                <a:effectLst/>
              </a:rPr>
              <a:t>„Vergiss niemals Regel Nummer 1.“</a:t>
            </a:r>
            <a:br>
              <a:rPr lang="de-DE" sz="3600" dirty="0"/>
            </a:b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82042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A4E7F1-CAD1-7B5E-2655-42148BC1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6B7A5F-DA50-6366-5292-F3A191B1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Warum es wichtig ist, bei der langfristigen Kapitalanlage, das Risiko und nicht primär die Rendite in den Vordergrund zu stellen</a:t>
            </a:r>
          </a:p>
          <a:p>
            <a:pPr lvl="1"/>
            <a:r>
              <a:rPr lang="de-DE" dirty="0"/>
              <a:t>Diese Sichtweise ermöglicht es die langfristigen Schwankungen besser zu verkraften -&gt; Anleger bleiben länger am Markt investiert</a:t>
            </a:r>
          </a:p>
          <a:p>
            <a:pPr lvl="1"/>
            <a:r>
              <a:rPr lang="de-DE" dirty="0"/>
              <a:t>Geringerer Max-Draw-Down ermöglicht Erholung von höherem Niveau</a:t>
            </a:r>
          </a:p>
          <a:p>
            <a:pPr lvl="1"/>
            <a:r>
              <a:rPr lang="de-DE" dirty="0"/>
              <a:t>Vordergründige Analyse von Risiko ermöglicht gleichzeitig die Identifikation von Opportunitäten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177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C0970-9C9E-ACEA-ADC4-3C2E8CEA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74D857-F48A-EA64-A0A6-56EEC2A25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Zielsetzung</a:t>
            </a:r>
          </a:p>
          <a:p>
            <a:r>
              <a:rPr lang="de-DE" sz="2000" dirty="0"/>
              <a:t>Vorgehensweise und eingesetzte Tools </a:t>
            </a:r>
          </a:p>
          <a:p>
            <a:r>
              <a:rPr lang="de-DE" sz="2000" dirty="0"/>
              <a:t>Vorstellung Indikatoren (Erläuterung der Hypothesen und warum diese aufgestellt wurde) </a:t>
            </a:r>
          </a:p>
          <a:p>
            <a:r>
              <a:rPr lang="de-DE" sz="2000" dirty="0"/>
              <a:t>EDA (Datengrundlage/-bezug und Prüfung Datenqualität) -&gt; nur für relevante Hypothesen erläutern</a:t>
            </a:r>
          </a:p>
          <a:p>
            <a:pPr lvl="1"/>
            <a:r>
              <a:rPr lang="de-DE" sz="1600" dirty="0"/>
              <a:t>Einmal für Risiko </a:t>
            </a:r>
          </a:p>
          <a:p>
            <a:pPr lvl="1"/>
            <a:r>
              <a:rPr lang="de-DE" sz="1600" dirty="0"/>
              <a:t>Einmal für Einstieg</a:t>
            </a:r>
          </a:p>
          <a:p>
            <a:r>
              <a:rPr lang="de-DE" sz="2000" dirty="0"/>
              <a:t>Beschreibung des Verfahrens zur Festlegung der Börsenampelsystematik </a:t>
            </a:r>
          </a:p>
          <a:p>
            <a:pPr lvl="1"/>
            <a:r>
              <a:rPr lang="de-DE" sz="1600" dirty="0"/>
              <a:t>Einmal für Risiko </a:t>
            </a:r>
          </a:p>
          <a:p>
            <a:pPr lvl="1"/>
            <a:r>
              <a:rPr lang="de-DE" sz="1600" dirty="0"/>
              <a:t>Einmal für Einstieg </a:t>
            </a:r>
          </a:p>
          <a:p>
            <a:r>
              <a:rPr lang="de-DE" sz="2000" dirty="0" err="1"/>
              <a:t>Streamlit</a:t>
            </a:r>
            <a:r>
              <a:rPr lang="de-DE" sz="2000" dirty="0"/>
              <a:t>-Dashboard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715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F9669C-F6E1-5F5E-5156-C998E920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Zielsetzung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9CDCC-C158-AAA7-E54A-6B368CF01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Gesundheitscheck </a:t>
            </a:r>
          </a:p>
          <a:p>
            <a:r>
              <a:rPr lang="de-DE" dirty="0"/>
              <a:t>Fokus amerikanischer Markt </a:t>
            </a:r>
          </a:p>
          <a:p>
            <a:pPr lvl="1"/>
            <a:r>
              <a:rPr lang="de-DE" dirty="0"/>
              <a:t>Insbesondere 4 Indizes: S&amp;P500, Dow Jones, NASDAQ und RUSSELL</a:t>
            </a:r>
          </a:p>
        </p:txBody>
      </p:sp>
    </p:spTree>
    <p:extLst>
      <p:ext uri="{BB962C8B-B14F-4D97-AF65-F5344CB8AC3E}">
        <p14:creationId xmlns:p14="http://schemas.microsoft.com/office/powerpoint/2010/main" val="2815284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BE0BD-1B52-F327-A775-0499A412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Vorgehensweise und eingesetzte Tools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561284-3EF2-27F4-0685-D26855FAE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406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5AA02C-18CA-A89A-54D7-79E1140C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Indikatoren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B99108-02D1-14B5-509A-F5EF65E8C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5 Blöcke: SMA, Marktbreite, Vola-Indizes, Put/Call Ratio und </a:t>
            </a:r>
            <a:r>
              <a:rPr lang="de-DE" dirty="0" err="1"/>
              <a:t>Advanced</a:t>
            </a:r>
            <a:r>
              <a:rPr lang="de-DE" dirty="0"/>
              <a:t> und </a:t>
            </a:r>
            <a:r>
              <a:rPr lang="de-DE" dirty="0" err="1"/>
              <a:t>Declining</a:t>
            </a:r>
            <a:r>
              <a:rPr lang="de-DE" dirty="0"/>
              <a:t> Stocks und Volume </a:t>
            </a:r>
          </a:p>
          <a:p>
            <a:r>
              <a:rPr lang="de-DE" dirty="0">
                <a:highlight>
                  <a:srgbClr val="00FFFF"/>
                </a:highlight>
              </a:rPr>
              <a:t>Hier schon Unterscheidung zwischen Risiko und Einstieg? 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513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F5771-A708-EE1C-0D28-DE2F3B1A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SMA – Simple </a:t>
            </a:r>
            <a:r>
              <a:rPr lang="de-DE" dirty="0" err="1"/>
              <a:t>moving</a:t>
            </a:r>
            <a:r>
              <a:rPr lang="de-DE" dirty="0"/>
              <a:t> </a:t>
            </a:r>
            <a:r>
              <a:rPr lang="de-DE" dirty="0" err="1"/>
              <a:t>average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A35B1A-244C-FC1A-C29D-2E22D9D3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Hinweis, dass wir uns einige Hypothesen mehr angesehen haben, aber jetzt nur die relevanten vorstellen </a:t>
            </a:r>
          </a:p>
          <a:p>
            <a:r>
              <a:rPr lang="de-DE" dirty="0"/>
              <a:t>Parameterauswahl (für alle Hypothesen): </a:t>
            </a:r>
          </a:p>
          <a:p>
            <a:pPr lvl="1"/>
            <a:r>
              <a:rPr lang="de-DE" dirty="0"/>
              <a:t>Laufzeitbänder: 20/100/200</a:t>
            </a:r>
          </a:p>
          <a:p>
            <a:pPr lvl="1"/>
            <a:r>
              <a:rPr lang="de-DE" dirty="0"/>
              <a:t>Halteperioden: 30/60/90</a:t>
            </a:r>
          </a:p>
          <a:p>
            <a:pPr lvl="1"/>
            <a:r>
              <a:rPr lang="de-DE" dirty="0"/>
              <a:t>RSI</a:t>
            </a:r>
          </a:p>
          <a:p>
            <a:pPr lvl="1"/>
            <a:r>
              <a:rPr lang="de-DE" dirty="0"/>
              <a:t>Grundsätzliche Signifikanz/Geeignetheit für Risikoampel</a:t>
            </a:r>
          </a:p>
          <a:p>
            <a:r>
              <a:rPr lang="de-DE" dirty="0"/>
              <a:t>Hypothese 1: Kurs über/unter SMA</a:t>
            </a:r>
          </a:p>
          <a:p>
            <a:pPr lvl="1"/>
            <a:r>
              <a:rPr lang="de-DE" dirty="0"/>
              <a:t>Erklärung: Hat Aussagekraft über Risiko und Rendite mit Blick in die Zukunft</a:t>
            </a:r>
          </a:p>
          <a:p>
            <a:pPr lvl="1"/>
            <a:r>
              <a:rPr lang="de-DE" dirty="0"/>
              <a:t>Erkenntnis: Einordnung Praxisrelevanz</a:t>
            </a:r>
          </a:p>
        </p:txBody>
      </p:sp>
    </p:spTree>
    <p:extLst>
      <p:ext uri="{BB962C8B-B14F-4D97-AF65-F5344CB8AC3E}">
        <p14:creationId xmlns:p14="http://schemas.microsoft.com/office/powerpoint/2010/main" val="34668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A78FD-1CEE-9561-C9BA-6F34D9A6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84C366-B283-CA73-B511-EDE56064B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Hypothese 2: SMA steigend/fallend </a:t>
            </a:r>
          </a:p>
          <a:p>
            <a:pPr lvl="1"/>
            <a:r>
              <a:rPr lang="de-DE" dirty="0"/>
              <a:t>Erklärung: </a:t>
            </a:r>
          </a:p>
          <a:p>
            <a:pPr lvl="1"/>
            <a:r>
              <a:rPr lang="de-DE" dirty="0"/>
              <a:t>Erkenntnis:</a:t>
            </a:r>
          </a:p>
          <a:p>
            <a:pPr lvl="1"/>
            <a:endParaRPr lang="de-DE" dirty="0"/>
          </a:p>
          <a:p>
            <a:r>
              <a:rPr lang="de-DE" dirty="0"/>
              <a:t>Hypothese 3: Death Cross </a:t>
            </a:r>
          </a:p>
          <a:p>
            <a:pPr lvl="1"/>
            <a:r>
              <a:rPr lang="de-DE" dirty="0"/>
              <a:t>Erklärung: </a:t>
            </a:r>
          </a:p>
          <a:p>
            <a:pPr lvl="1"/>
            <a:r>
              <a:rPr lang="de-DE" dirty="0"/>
              <a:t>Erkenntnis:</a:t>
            </a:r>
          </a:p>
          <a:p>
            <a:pPr lvl="1"/>
            <a:endParaRPr lang="de-DE" dirty="0"/>
          </a:p>
          <a:p>
            <a:r>
              <a:rPr lang="de-DE" dirty="0"/>
              <a:t>Hypothese 4: Abstand vom bisherigen Hoch (Draw-Down-Status) </a:t>
            </a:r>
          </a:p>
          <a:p>
            <a:pPr lvl="1"/>
            <a:r>
              <a:rPr lang="de-DE" dirty="0"/>
              <a:t>Erklärung: </a:t>
            </a:r>
          </a:p>
          <a:p>
            <a:pPr lvl="1"/>
            <a:r>
              <a:rPr lang="de-DE" dirty="0"/>
              <a:t>Erkenntnis:</a:t>
            </a:r>
          </a:p>
          <a:p>
            <a:pPr lvl="1"/>
            <a:endParaRPr lang="de-DE" dirty="0"/>
          </a:p>
          <a:p>
            <a:pPr marL="457200" lvl="1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8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661D0-AFA5-CA01-3D33-59EC4D8D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Marktbreite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15C50A-37ED-6496-880E-F77B2180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Hinweis, dass wir uns einige Hypothesen mehr angesehen haben, aber jetzt nur die relevanten vorstellen </a:t>
            </a:r>
          </a:p>
          <a:p>
            <a:r>
              <a:rPr lang="de-DE" dirty="0"/>
              <a:t>Parameterauswahl (für alle Hypothesen): </a:t>
            </a:r>
          </a:p>
          <a:p>
            <a:pPr lvl="1"/>
            <a:r>
              <a:rPr lang="de-DE" dirty="0"/>
              <a:t>Laufzeitbänder: 20/50/200</a:t>
            </a:r>
          </a:p>
        </p:txBody>
      </p:sp>
    </p:spTree>
    <p:extLst>
      <p:ext uri="{BB962C8B-B14F-4D97-AF65-F5344CB8AC3E}">
        <p14:creationId xmlns:p14="http://schemas.microsoft.com/office/powerpoint/2010/main" val="2732218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Breitbild</PresentationFormat>
  <Paragraphs>49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Warren Buffetts berühmte Regel Nummer 1 lautet:  „Verliere niemals Geld.“  Regel Nummer 2 lautet:  „Vergiss niemals Regel Nummer 1.“ </vt:lpstr>
      <vt:lpstr>PowerPoint-Präsentation</vt:lpstr>
      <vt:lpstr>Agenda </vt:lpstr>
      <vt:lpstr>Zielsetzung </vt:lpstr>
      <vt:lpstr>Vorgehensweise und eingesetzte Tools </vt:lpstr>
      <vt:lpstr>Vorstellung Indikatoren</vt:lpstr>
      <vt:lpstr>SMA – Simple moving average</vt:lpstr>
      <vt:lpstr>PowerPoint-Präsentation</vt:lpstr>
      <vt:lpstr>Marktbreite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Klett</dc:creator>
  <cp:lastModifiedBy>Jennifer Klett</cp:lastModifiedBy>
  <cp:revision>1</cp:revision>
  <dcterms:created xsi:type="dcterms:W3CDTF">2026-08-13T10:07:56Z</dcterms:created>
  <dcterms:modified xsi:type="dcterms:W3CDTF">2026-08-13T10:08:21Z</dcterms:modified>
</cp:coreProperties>
</file>